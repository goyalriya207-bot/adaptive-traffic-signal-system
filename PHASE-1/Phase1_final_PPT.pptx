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09194" y="988819"/>
            <a:ext cx="2326005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948701"/>
            <a:ext cx="3597910" cy="1415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12402" y="3133522"/>
            <a:ext cx="2530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 h="0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733652"/>
            <a:ext cx="44748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60"/>
              <a:t>PROJECT-</a:t>
            </a:r>
            <a:r>
              <a:rPr dirty="0" sz="2450" spc="65"/>
              <a:t>BASED</a:t>
            </a:r>
            <a:r>
              <a:rPr dirty="0" sz="2450" spc="-345"/>
              <a:t> </a:t>
            </a:r>
            <a:r>
              <a:rPr dirty="0" sz="2450" spc="-1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321257" y="1109886"/>
            <a:ext cx="3117215" cy="19634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20"/>
              </a:spcBef>
            </a:pPr>
            <a:r>
              <a:rPr dirty="0" sz="1700">
                <a:latin typeface="Trebuchet MS"/>
                <a:cs typeface="Trebuchet MS"/>
              </a:rPr>
              <a:t>PHASE-I</a:t>
            </a:r>
            <a:r>
              <a:rPr dirty="0" sz="1700" spc="2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 marL="99060" marR="89535">
              <a:lnSpc>
                <a:spcPts val="1350"/>
              </a:lnSpc>
              <a:spcBef>
                <a:spcPts val="1920"/>
              </a:spcBef>
            </a:pPr>
            <a:r>
              <a:rPr dirty="0" sz="1400" spc="-55" b="1">
                <a:solidFill>
                  <a:srgbClr val="595959"/>
                </a:solidFill>
                <a:latin typeface="Tahoma"/>
                <a:cs typeface="Tahoma"/>
              </a:rPr>
              <a:t>Adaptive</a:t>
            </a:r>
            <a:r>
              <a:rPr dirty="0" sz="1400" spc="-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5" b="1">
                <a:solidFill>
                  <a:srgbClr val="595959"/>
                </a:solidFill>
                <a:latin typeface="Tahoma"/>
                <a:cs typeface="Tahoma"/>
              </a:rPr>
              <a:t>Traffic</a:t>
            </a:r>
            <a:r>
              <a:rPr dirty="0" sz="1400" spc="-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80" b="1">
                <a:solidFill>
                  <a:srgbClr val="595959"/>
                </a:solidFill>
                <a:latin typeface="Tahoma"/>
                <a:cs typeface="Tahoma"/>
              </a:rPr>
              <a:t>Signal</a:t>
            </a:r>
            <a:r>
              <a:rPr dirty="0" sz="1400" spc="-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400" spc="-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with </a:t>
            </a:r>
            <a:r>
              <a:rPr dirty="0" sz="1400" spc="-80" b="1">
                <a:solidFill>
                  <a:srgbClr val="595959"/>
                </a:solidFill>
                <a:latin typeface="Tahoma"/>
                <a:cs typeface="Tahoma"/>
              </a:rPr>
              <a:t>Emergency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5" b="1">
                <a:solidFill>
                  <a:srgbClr val="595959"/>
                </a:solidFill>
                <a:latin typeface="Tahoma"/>
                <a:cs typeface="Tahoma"/>
              </a:rPr>
              <a:t>Evacuation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95959"/>
                </a:solidFill>
                <a:latin typeface="Tahoma"/>
                <a:cs typeface="Tahoma"/>
              </a:rPr>
              <a:t>Support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3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3768"/>
                </a:solidFill>
                <a:latin typeface="Tahoma"/>
                <a:cs typeface="Tahoma"/>
              </a:rPr>
              <a:t>DSCPP-</a:t>
            </a:r>
            <a:r>
              <a:rPr dirty="0" sz="1100" spc="-35">
                <a:solidFill>
                  <a:srgbClr val="133768"/>
                </a:solidFill>
                <a:latin typeface="Tahoma"/>
                <a:cs typeface="Tahoma"/>
              </a:rPr>
              <a:t>III-</a:t>
            </a:r>
            <a:r>
              <a:rPr dirty="0" sz="1100" spc="-50">
                <a:solidFill>
                  <a:srgbClr val="133768"/>
                </a:solidFill>
                <a:latin typeface="Tahoma"/>
                <a:cs typeface="Tahoma"/>
              </a:rPr>
              <a:t>2026-</a:t>
            </a:r>
            <a:r>
              <a:rPr dirty="0" sz="1100" spc="-20">
                <a:solidFill>
                  <a:srgbClr val="133768"/>
                </a:solidFill>
                <a:latin typeface="Tahoma"/>
                <a:cs typeface="Tahoma"/>
              </a:rPr>
              <a:t>T179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65" b="1">
                <a:latin typeface="Tahoma"/>
                <a:cs typeface="Tahoma"/>
              </a:rPr>
              <a:t>Department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of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Computer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Science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&amp;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</a:rPr>
              <a:t>Graphic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Era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(Deemed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University), </a:t>
            </a:r>
            <a:r>
              <a:rPr dirty="0" sz="1100" spc="-1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latin typeface="Tahoma"/>
                <a:cs typeface="Tahoma"/>
              </a:rPr>
              <a:t>Academic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Session</a:t>
            </a:r>
            <a:r>
              <a:rPr dirty="0" sz="800" spc="35">
                <a:latin typeface="Tahoma"/>
                <a:cs typeface="Tahoma"/>
              </a:rPr>
              <a:t> </a:t>
            </a:r>
            <a:r>
              <a:rPr dirty="0" sz="800" spc="-25">
                <a:latin typeface="Tahoma"/>
                <a:cs typeface="Tahoma"/>
              </a:rPr>
              <a:t>2026–27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Team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20"/>
              <a:t>Mentor</a:t>
            </a:r>
            <a:r>
              <a:rPr dirty="0" spc="20"/>
              <a:t> </a:t>
            </a:r>
            <a:r>
              <a:rPr dirty="0" spc="-45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224531"/>
            <a:ext cx="1129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dirty="0" sz="1200" spc="5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dirty="0" sz="1200" spc="-4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20685"/>
            <a:ext cx="2520950" cy="802640"/>
            <a:chOff x="309193" y="1420685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20685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64968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1459482"/>
            <a:ext cx="65151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 b="1">
                <a:latin typeface="Tahoma"/>
                <a:cs typeface="Tahoma"/>
              </a:rPr>
              <a:t>Team</a:t>
            </a:r>
            <a:r>
              <a:rPr dirty="0" sz="1100" spc="-30" b="1">
                <a:latin typeface="Tahoma"/>
                <a:cs typeface="Tahoma"/>
              </a:rPr>
              <a:t> </a:t>
            </a:r>
            <a:r>
              <a:rPr dirty="0" sz="1100" spc="-25" b="1">
                <a:latin typeface="Tahoma"/>
                <a:cs typeface="Tahoma"/>
              </a:rPr>
              <a:t>ID: </a:t>
            </a:r>
            <a:r>
              <a:rPr dirty="0" sz="1100" spc="-85" b="1">
                <a:latin typeface="Tahoma"/>
                <a:cs typeface="Tahoma"/>
              </a:rPr>
              <a:t>Semester: </a:t>
            </a:r>
            <a:r>
              <a:rPr dirty="0" sz="1100" spc="-10" b="1">
                <a:latin typeface="Tahoma"/>
                <a:cs typeface="Tahoma"/>
              </a:rPr>
              <a:t>Section: Domain: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9482"/>
            <a:ext cx="823594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T179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25">
                <a:latin typeface="Tahoma"/>
                <a:cs typeface="Tahoma"/>
              </a:rPr>
              <a:t>3rd </a:t>
            </a:r>
            <a:r>
              <a:rPr dirty="0" sz="1100" spc="-10">
                <a:latin typeface="Tahoma"/>
                <a:cs typeface="Tahoma"/>
              </a:rPr>
              <a:t>A,H,DS1,DS2 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DSA/C++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68117" y="1224531"/>
            <a:ext cx="98551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dirty="0" sz="1200" spc="5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dirty="0" sz="1200" spc="-75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20685"/>
            <a:ext cx="2520950" cy="727075"/>
            <a:chOff x="2930016" y="1420685"/>
            <a:chExt cx="2520950" cy="7270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20685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6496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35250"/>
            <a:ext cx="2037714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Riya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Goyal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–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2510013064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Divya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Smriti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2510012531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Anushka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Verma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2510380276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Tanishka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Soni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2510380269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83573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294" y="2362578"/>
            <a:ext cx="4711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58745"/>
            <a:ext cx="5142230" cy="237490"/>
            <a:chOff x="309193" y="2558745"/>
            <a:chExt cx="5142230" cy="2374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874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603020"/>
              <a:ext cx="5142230" cy="193040"/>
            </a:xfrm>
            <a:custGeom>
              <a:avLst/>
              <a:gdLst/>
              <a:ahLst/>
              <a:cxnLst/>
              <a:rect l="l" t="t" r="r" b="b"/>
              <a:pathLst>
                <a:path w="5142230" h="193039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3297"/>
            <a:ext cx="1198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Mr.Ram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Ji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Chauhan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751650" y="2573297"/>
            <a:ext cx="16624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 b="1">
                <a:latin typeface="Tahoma"/>
                <a:cs typeface="Tahoma"/>
              </a:rPr>
              <a:t>Interactions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65" b="1">
                <a:latin typeface="Tahoma"/>
                <a:cs typeface="Tahoma"/>
              </a:rPr>
              <a:t>completed:</a:t>
            </a:r>
            <a:r>
              <a:rPr dirty="0" sz="1100" spc="130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Problem</a:t>
            </a:r>
            <a:r>
              <a:rPr dirty="0" spc="35"/>
              <a:t> </a:t>
            </a:r>
            <a:r>
              <a:rPr dirty="0" spc="-55"/>
              <a:t>Statement</a:t>
            </a:r>
            <a:r>
              <a:rPr dirty="0" spc="40"/>
              <a:t> </a:t>
            </a:r>
            <a:r>
              <a:rPr dirty="0" spc="85"/>
              <a:t>&amp;</a:t>
            </a:r>
            <a:r>
              <a:rPr dirty="0" spc="40"/>
              <a:t> </a:t>
            </a:r>
            <a:r>
              <a:rPr dirty="0" spc="-35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9193" y="1009573"/>
            <a:ext cx="5142230" cy="1101090"/>
            <a:chOff x="309193" y="1009573"/>
            <a:chExt cx="5142230" cy="1101090"/>
          </a:xfrm>
        </p:grpSpPr>
        <p:sp>
          <p:nvSpPr>
            <p:cNvPr id="5" name="object 5"/>
            <p:cNvSpPr/>
            <p:nvPr/>
          </p:nvSpPr>
          <p:spPr>
            <a:xfrm>
              <a:off x="309193" y="100957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84744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229026"/>
              <a:ext cx="5142230" cy="881380"/>
            </a:xfrm>
            <a:custGeom>
              <a:avLst/>
              <a:gdLst/>
              <a:ahLst/>
              <a:cxnLst/>
              <a:rect l="l" t="t" r="r" b="b"/>
              <a:pathLst>
                <a:path w="5142230" h="881380">
                  <a:moveTo>
                    <a:pt x="5141666" y="0"/>
                  </a:moveTo>
                  <a:lnTo>
                    <a:pt x="0" y="0"/>
                  </a:lnTo>
                  <a:lnTo>
                    <a:pt x="0" y="830392"/>
                  </a:lnTo>
                  <a:lnTo>
                    <a:pt x="4008" y="850117"/>
                  </a:lnTo>
                  <a:lnTo>
                    <a:pt x="14922" y="866270"/>
                  </a:lnTo>
                  <a:lnTo>
                    <a:pt x="31075" y="877184"/>
                  </a:lnTo>
                  <a:lnTo>
                    <a:pt x="50800" y="881193"/>
                  </a:lnTo>
                  <a:lnTo>
                    <a:pt x="5090865" y="881193"/>
                  </a:lnTo>
                  <a:lnTo>
                    <a:pt x="5110590" y="877184"/>
                  </a:lnTo>
                  <a:lnTo>
                    <a:pt x="5126743" y="866270"/>
                  </a:lnTo>
                  <a:lnTo>
                    <a:pt x="5137657" y="850117"/>
                  </a:lnTo>
                  <a:lnTo>
                    <a:pt x="5141666" y="83039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7294" y="957333"/>
            <a:ext cx="5065395" cy="11220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 spc="-6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dirty="0" sz="1200" spc="3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congestion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is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most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common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busy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road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junctions.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 signals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works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independently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of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 no.</a:t>
            </a:r>
            <a:r>
              <a:rPr dirty="0" sz="1100" spc="9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road.</a:t>
            </a:r>
            <a:r>
              <a:rPr dirty="0" sz="1100" spc="9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leads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unnecessary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waiting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jam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become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difficult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during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emergencies.</a:t>
            </a:r>
            <a:r>
              <a:rPr dirty="0" sz="1100" spc="9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solve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C++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simulation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adjust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timing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provides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priority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vehicles.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1894" y="2219157"/>
            <a:ext cx="2163445" cy="8153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Unnecessary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jam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1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r>
              <a:rPr dirty="0" sz="11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face</a:t>
            </a:r>
            <a:r>
              <a:rPr dirty="0" sz="11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delays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1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5" i="1">
                <a:solidFill>
                  <a:srgbClr val="595959"/>
                </a:solidFill>
                <a:latin typeface="Arial"/>
                <a:cs typeface="Arial"/>
              </a:rPr>
              <a:t>Less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efficient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normal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7" y="2226853"/>
            <a:ext cx="2349500" cy="8153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5" b="1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dirty="0" sz="11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65" b="1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dirty="0" sz="1100" spc="1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dirty="0" sz="1100" spc="1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1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Pedestrians,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Drivers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1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5" i="1">
                <a:solidFill>
                  <a:srgbClr val="595959"/>
                </a:solidFill>
                <a:latin typeface="Arial"/>
                <a:cs typeface="Arial"/>
              </a:rPr>
              <a:t>Less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congestion,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better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Project</a:t>
            </a:r>
            <a:r>
              <a:rPr dirty="0" spc="-5"/>
              <a:t> </a:t>
            </a:r>
            <a:r>
              <a:rPr dirty="0" spc="-10"/>
              <a:t>Objectives</a:t>
            </a:r>
          </a:p>
          <a:p>
            <a:pPr marL="290195" indent="-177800">
              <a:lnSpc>
                <a:spcPct val="100000"/>
              </a:lnSpc>
              <a:spcBef>
                <a:spcPts val="90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70" b="0" i="1">
                <a:solidFill>
                  <a:srgbClr val="595959"/>
                </a:solidFill>
                <a:latin typeface="Arial"/>
                <a:cs typeface="Arial"/>
              </a:rPr>
              <a:t>make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60" b="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75" b="0" i="1">
                <a:solidFill>
                  <a:srgbClr val="595959"/>
                </a:solidFill>
                <a:latin typeface="Arial"/>
                <a:cs typeface="Arial"/>
              </a:rPr>
              <a:t>easier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55" b="0" i="1">
                <a:solidFill>
                  <a:srgbClr val="595959"/>
                </a:solidFill>
                <a:latin typeface="Arial"/>
                <a:cs typeface="Arial"/>
              </a:rPr>
              <a:t>busy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roads.</a:t>
            </a: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pc="-3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find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better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595959"/>
                </a:solidFill>
                <a:latin typeface="Arial"/>
                <a:cs typeface="Arial"/>
              </a:rPr>
              <a:t>during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emergency.</a:t>
            </a: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35" b="0" i="1">
                <a:solidFill>
                  <a:srgbClr val="595959"/>
                </a:solidFill>
                <a:latin typeface="Arial"/>
                <a:cs typeface="Arial"/>
              </a:rPr>
              <a:t>help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75" b="0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70" b="0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r>
              <a:rPr dirty="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60" b="0" i="1">
                <a:solidFill>
                  <a:srgbClr val="595959"/>
                </a:solidFill>
                <a:latin typeface="Arial"/>
                <a:cs typeface="Arial"/>
              </a:rPr>
              <a:t>move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595959"/>
                </a:solidFill>
                <a:latin typeface="Arial"/>
                <a:cs typeface="Arial"/>
              </a:rPr>
              <a:t>quickly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dirty="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traffic.</a:t>
            </a:r>
          </a:p>
          <a:p>
            <a:pPr marL="290195" indent="-177800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75" b="0" i="1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60" b="0" i="1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50" b="0" i="1">
                <a:solidFill>
                  <a:srgbClr val="595959"/>
                </a:solidFill>
                <a:latin typeface="Arial"/>
                <a:cs typeface="Arial"/>
              </a:rPr>
              <a:t>according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situations.</a:t>
            </a:r>
          </a:p>
          <a:p>
            <a:pPr marL="290195" indent="-177800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pc="-50" b="0" i="1">
                <a:solidFill>
                  <a:srgbClr val="595959"/>
                </a:solidFill>
                <a:latin typeface="Arial"/>
                <a:cs typeface="Arial"/>
              </a:rPr>
              <a:t>combine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100" b="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concepts.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6033" y="2540888"/>
            <a:ext cx="4108450" cy="34480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275"/>
              </a:lnSpc>
            </a:pPr>
            <a:r>
              <a:rPr dirty="0" sz="1100" b="1">
                <a:latin typeface="Tahoma"/>
                <a:cs typeface="Tahoma"/>
              </a:rPr>
              <a:t>Key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Objective:</a:t>
            </a:r>
            <a:r>
              <a:rPr dirty="0" sz="1100" spc="95" b="1">
                <a:latin typeface="Tahoma"/>
                <a:cs typeface="Tahoma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reduce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delays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help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reach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there destination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time.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Proposed</a:t>
            </a:r>
            <a:r>
              <a:rPr dirty="0" spc="-5"/>
              <a:t> </a:t>
            </a:r>
            <a:r>
              <a:rPr dirty="0" spc="-55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913419"/>
            <a:ext cx="2444115" cy="18732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55" b="1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dirty="0" sz="11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sz="1100">
              <a:latin typeface="Tahoma"/>
              <a:cs typeface="Tahoma"/>
            </a:endParaRPr>
          </a:p>
          <a:p>
            <a:pPr marL="289560" marR="48196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Take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details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of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roads,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traffic, emergencies</a:t>
            </a:r>
            <a:endParaRPr sz="1100">
              <a:latin typeface="Arial"/>
              <a:cs typeface="Arial"/>
            </a:endParaRPr>
          </a:p>
          <a:p>
            <a:pPr marL="289560" marR="21717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Search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shortest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road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manage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traffic</a:t>
            </a:r>
            <a:endParaRPr sz="1100">
              <a:latin typeface="Arial"/>
              <a:cs typeface="Arial"/>
            </a:endParaRPr>
          </a:p>
          <a:p>
            <a:pPr marL="289560" marR="508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emergency,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given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high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priority</a:t>
            </a:r>
            <a:endParaRPr sz="1100">
              <a:latin typeface="Arial"/>
              <a:cs typeface="Arial"/>
            </a:endParaRPr>
          </a:p>
          <a:p>
            <a:pPr marL="289560" marR="38100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details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road,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junction,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endParaRPr sz="1100">
              <a:latin typeface="Arial"/>
              <a:cs typeface="Arial"/>
            </a:endParaRPr>
          </a:p>
          <a:p>
            <a:pPr marL="290195" indent="-177800">
              <a:lnSpc>
                <a:spcPct val="100000"/>
              </a:lnSpc>
              <a:spcBef>
                <a:spcPts val="1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valid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route,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changes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913419"/>
            <a:ext cx="1917064" cy="12858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b="1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dirty="0" sz="1100" spc="-5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Shortest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selection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vehicle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priority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Blocked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road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Simple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719832"/>
            <a:ext cx="501713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100"/>
              </a:spcBef>
            </a:pP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Helps in Traffic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Tahoma"/>
                <a:cs typeface="Tahoma"/>
              </a:rPr>
              <a:t>management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 during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normal situation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and </a:t>
            </a:r>
            <a:r>
              <a:rPr dirty="0" sz="800" spc="-25">
                <a:solidFill>
                  <a:srgbClr val="595959"/>
                </a:solidFill>
                <a:latin typeface="Tahoma"/>
                <a:cs typeface="Tahoma"/>
              </a:rPr>
              <a:t>emergencies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and finds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the most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suitable and</a:t>
            </a:r>
            <a:r>
              <a:rPr dirty="0" sz="8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Tahoma"/>
                <a:cs typeface="Tahoma"/>
              </a:rPr>
              <a:t>shortest route.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Integration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60"/>
              <a:t>PBL</a:t>
            </a:r>
            <a:r>
              <a:rPr dirty="0" spc="25"/>
              <a:t> </a:t>
            </a:r>
            <a:r>
              <a:rPr dirty="0" spc="-50"/>
              <a:t>Course</a:t>
            </a:r>
            <a:r>
              <a:rPr dirty="0" spc="25"/>
              <a:t> </a:t>
            </a:r>
            <a:r>
              <a:rPr dirty="0" spc="-35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1084656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121472"/>
            <a:ext cx="341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Tahoma"/>
                <a:cs typeface="Tahoma"/>
              </a:rPr>
              <a:t>Course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121472"/>
            <a:ext cx="808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Tahoma"/>
                <a:cs typeface="Tahoma"/>
              </a:rPr>
              <a:t>Concepts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Applied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6582" y="1121472"/>
            <a:ext cx="7188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Tahoma"/>
                <a:cs typeface="Tahoma"/>
              </a:rPr>
              <a:t>Project</a:t>
            </a:r>
            <a:r>
              <a:rPr dirty="0" sz="800" spc="10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Module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308557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8081" y="1343302"/>
            <a:ext cx="9950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Tahoma"/>
                <a:cs typeface="Tahoma"/>
              </a:rPr>
              <a:t>Data</a:t>
            </a:r>
            <a:r>
              <a:rPr dirty="0" sz="800" spc="-5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Structures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in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C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0235" y="1343302"/>
            <a:ext cx="22491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Graph,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Queue,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Priority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Queue,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Searching,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Sorting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5934" y="1343302"/>
            <a:ext cx="926465" cy="537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229"/>
              </a:spcBef>
              <a:tabLst>
                <a:tab pos="579755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Control 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081" y="1613749"/>
            <a:ext cx="8178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Tahoma"/>
                <a:cs typeface="Tahoma"/>
              </a:rPr>
              <a:t>OOPs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with</a:t>
            </a:r>
            <a:r>
              <a:rPr dirty="0" sz="800" spc="30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917" y="1613749"/>
            <a:ext cx="257937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40" i="1">
                <a:solidFill>
                  <a:srgbClr val="595959"/>
                </a:solidFill>
                <a:latin typeface="Arial"/>
                <a:cs typeface="Arial"/>
              </a:rPr>
              <a:t>Classes,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Objects,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Inheritance,</a:t>
            </a:r>
            <a:r>
              <a:rPr dirty="0" sz="800" spc="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Polymorphism,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Encapsula-tion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0781" y="192104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48081" y="1955773"/>
            <a:ext cx="6394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Tahoma"/>
                <a:cs typeface="Tahoma"/>
              </a:rPr>
              <a:t>File</a:t>
            </a:r>
            <a:r>
              <a:rPr dirty="0" sz="800" spc="-20" b="1">
                <a:latin typeface="Tahoma"/>
                <a:cs typeface="Tahoma"/>
              </a:rPr>
              <a:t> </a:t>
            </a:r>
            <a:r>
              <a:rPr dirty="0" sz="800" spc="-45" b="1">
                <a:latin typeface="Tahoma"/>
                <a:cs typeface="Tahoma"/>
              </a:rPr>
              <a:t>Handling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567" y="1955773"/>
            <a:ext cx="2086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dirty="0" sz="8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Creation,</a:t>
            </a:r>
            <a:r>
              <a:rPr dirty="0" sz="800" spc="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Reading,</a:t>
            </a:r>
            <a:r>
              <a:rPr dirty="0" sz="8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Writing,</a:t>
            </a:r>
            <a:r>
              <a:rPr dirty="0" sz="8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5448" y="1955773"/>
            <a:ext cx="92583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335" marR="5080" indent="-127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170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0781" y="2265146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74839" y="2561932"/>
            <a:ext cx="4410710" cy="28638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11430" rIns="0" bIns="0" rtlCol="0" vert="horz">
            <a:spAutoFit/>
          </a:bodyPr>
          <a:lstStyle/>
          <a:p>
            <a:pPr marL="1613535" marR="50800" indent="-1555750">
              <a:lnSpc>
                <a:spcPts val="950"/>
              </a:lnSpc>
              <a:spcBef>
                <a:spcPts val="90"/>
              </a:spcBef>
            </a:pPr>
            <a:r>
              <a:rPr dirty="0" sz="800" spc="-50" b="1">
                <a:latin typeface="Tahoma"/>
                <a:cs typeface="Tahoma"/>
              </a:rPr>
              <a:t>Requirement:</a:t>
            </a:r>
            <a:r>
              <a:rPr dirty="0" sz="800" spc="110" b="1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Demonstrate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meaningful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integration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of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Data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Structures,</a:t>
            </a:r>
            <a:r>
              <a:rPr dirty="0" sz="800" spc="15">
                <a:latin typeface="Tahoma"/>
                <a:cs typeface="Tahoma"/>
              </a:rPr>
              <a:t> </a:t>
            </a:r>
            <a:r>
              <a:rPr dirty="0" sz="800" spc="70">
                <a:latin typeface="Tahoma"/>
                <a:cs typeface="Tahoma"/>
              </a:rPr>
              <a:t>OOP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Concepts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and</a:t>
            </a:r>
            <a:r>
              <a:rPr dirty="0" sz="800" spc="10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File </a:t>
            </a:r>
            <a:r>
              <a:rPr dirty="0" sz="800">
                <a:latin typeface="Tahoma"/>
                <a:cs typeface="Tahoma"/>
              </a:rPr>
              <a:t>Handling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in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60" b="1">
                <a:latin typeface="Tahoma"/>
                <a:cs typeface="Tahoma"/>
              </a:rPr>
              <a:t>single</a:t>
            </a:r>
            <a:r>
              <a:rPr dirty="0" sz="800" spc="45" b="1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project.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System</a:t>
            </a:r>
            <a:r>
              <a:rPr dirty="0" spc="25"/>
              <a:t> </a:t>
            </a:r>
            <a:r>
              <a:rPr dirty="0" spc="-50"/>
              <a:t>Architecture</a:t>
            </a:r>
            <a:r>
              <a:rPr dirty="0" spc="30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59984" y="1145523"/>
            <a:ext cx="779145" cy="368935"/>
            <a:chOff x="359984" y="1145523"/>
            <a:chExt cx="779145" cy="368935"/>
          </a:xfrm>
        </p:grpSpPr>
        <p:sp>
          <p:nvSpPr>
            <p:cNvPr id="5" name="object 5"/>
            <p:cNvSpPr/>
            <p:nvPr/>
          </p:nvSpPr>
          <p:spPr>
            <a:xfrm>
              <a:off x="362524" y="1148063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2524" y="1148063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58381" y="1142890"/>
            <a:ext cx="58293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Input User/Data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91056" y="1161339"/>
            <a:ext cx="870585" cy="337185"/>
            <a:chOff x="1391056" y="1161339"/>
            <a:chExt cx="870585" cy="337185"/>
          </a:xfrm>
        </p:grpSpPr>
        <p:sp>
          <p:nvSpPr>
            <p:cNvPr id="9" name="object 9"/>
            <p:cNvSpPr/>
            <p:nvPr/>
          </p:nvSpPr>
          <p:spPr>
            <a:xfrm>
              <a:off x="1393596" y="1163879"/>
              <a:ext cx="865505" cy="332105"/>
            </a:xfrm>
            <a:custGeom>
              <a:avLst/>
              <a:gdLst/>
              <a:ahLst/>
              <a:cxnLst/>
              <a:rect l="l" t="t" r="r" b="b"/>
              <a:pathLst>
                <a:path w="865505" h="332105">
                  <a:moveTo>
                    <a:pt x="8146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814615" y="332053"/>
                  </a:lnTo>
                  <a:lnTo>
                    <a:pt x="834315" y="328076"/>
                  </a:lnTo>
                  <a:lnTo>
                    <a:pt x="850403" y="317229"/>
                  </a:lnTo>
                  <a:lnTo>
                    <a:pt x="861249" y="301142"/>
                  </a:lnTo>
                  <a:lnTo>
                    <a:pt x="865226" y="281442"/>
                  </a:lnTo>
                  <a:lnTo>
                    <a:pt x="865226" y="50610"/>
                  </a:lnTo>
                  <a:lnTo>
                    <a:pt x="861249" y="30910"/>
                  </a:lnTo>
                  <a:lnTo>
                    <a:pt x="850403" y="14823"/>
                  </a:lnTo>
                  <a:lnTo>
                    <a:pt x="834315" y="3977"/>
                  </a:lnTo>
                  <a:lnTo>
                    <a:pt x="81461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93596" y="1163879"/>
              <a:ext cx="865505" cy="332105"/>
            </a:xfrm>
            <a:custGeom>
              <a:avLst/>
              <a:gdLst/>
              <a:ahLst/>
              <a:cxnLst/>
              <a:rect l="l" t="t" r="r" b="b"/>
              <a:pathLst>
                <a:path w="865505" h="332105">
                  <a:moveTo>
                    <a:pt x="8146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814615" y="332053"/>
                  </a:lnTo>
                  <a:lnTo>
                    <a:pt x="834315" y="328076"/>
                  </a:lnTo>
                  <a:lnTo>
                    <a:pt x="850403" y="317229"/>
                  </a:lnTo>
                  <a:lnTo>
                    <a:pt x="861249" y="301142"/>
                  </a:lnTo>
                  <a:lnTo>
                    <a:pt x="865226" y="281442"/>
                  </a:lnTo>
                  <a:lnTo>
                    <a:pt x="865226" y="50610"/>
                  </a:lnTo>
                  <a:lnTo>
                    <a:pt x="861249" y="30910"/>
                  </a:lnTo>
                  <a:lnTo>
                    <a:pt x="850403" y="14823"/>
                  </a:lnTo>
                  <a:lnTo>
                    <a:pt x="834315" y="3977"/>
                  </a:lnTo>
                  <a:lnTo>
                    <a:pt x="814615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427060" y="1158702"/>
            <a:ext cx="79883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Traffic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Control </a:t>
            </a:r>
            <a:r>
              <a:rPr dirty="0" sz="1000" spc="-10">
                <a:latin typeface="Tahoma"/>
                <a:cs typeface="Tahoma"/>
              </a:rPr>
              <a:t>Module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13346" y="1161339"/>
            <a:ext cx="869315" cy="337185"/>
            <a:chOff x="2513346" y="1161339"/>
            <a:chExt cx="869315" cy="337185"/>
          </a:xfrm>
        </p:grpSpPr>
        <p:sp>
          <p:nvSpPr>
            <p:cNvPr id="13" name="object 13"/>
            <p:cNvSpPr/>
            <p:nvPr/>
          </p:nvSpPr>
          <p:spPr>
            <a:xfrm>
              <a:off x="2515886" y="1163879"/>
              <a:ext cx="864235" cy="332105"/>
            </a:xfrm>
            <a:custGeom>
              <a:avLst/>
              <a:gdLst/>
              <a:ahLst/>
              <a:cxnLst/>
              <a:rect l="l" t="t" r="r" b="b"/>
              <a:pathLst>
                <a:path w="864235" h="332105">
                  <a:moveTo>
                    <a:pt x="81338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813385" y="332053"/>
                  </a:lnTo>
                  <a:lnTo>
                    <a:pt x="833086" y="328076"/>
                  </a:lnTo>
                  <a:lnTo>
                    <a:pt x="849173" y="317229"/>
                  </a:lnTo>
                  <a:lnTo>
                    <a:pt x="860019" y="301142"/>
                  </a:lnTo>
                  <a:lnTo>
                    <a:pt x="863996" y="281442"/>
                  </a:lnTo>
                  <a:lnTo>
                    <a:pt x="863996" y="50610"/>
                  </a:lnTo>
                  <a:lnTo>
                    <a:pt x="860019" y="30910"/>
                  </a:lnTo>
                  <a:lnTo>
                    <a:pt x="849173" y="14823"/>
                  </a:lnTo>
                  <a:lnTo>
                    <a:pt x="833086" y="3977"/>
                  </a:lnTo>
                  <a:lnTo>
                    <a:pt x="81338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15886" y="1163879"/>
              <a:ext cx="864235" cy="332105"/>
            </a:xfrm>
            <a:custGeom>
              <a:avLst/>
              <a:gdLst/>
              <a:ahLst/>
              <a:cxnLst/>
              <a:rect l="l" t="t" r="r" b="b"/>
              <a:pathLst>
                <a:path w="864235" h="332105">
                  <a:moveTo>
                    <a:pt x="81338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813385" y="332053"/>
                  </a:lnTo>
                  <a:lnTo>
                    <a:pt x="833086" y="328076"/>
                  </a:lnTo>
                  <a:lnTo>
                    <a:pt x="849173" y="317229"/>
                  </a:lnTo>
                  <a:lnTo>
                    <a:pt x="860019" y="301142"/>
                  </a:lnTo>
                  <a:lnTo>
                    <a:pt x="863996" y="281442"/>
                  </a:lnTo>
                  <a:lnTo>
                    <a:pt x="863996" y="50610"/>
                  </a:lnTo>
                  <a:lnTo>
                    <a:pt x="860019" y="30910"/>
                  </a:lnTo>
                  <a:lnTo>
                    <a:pt x="849173" y="14823"/>
                  </a:lnTo>
                  <a:lnTo>
                    <a:pt x="833086" y="3977"/>
                  </a:lnTo>
                  <a:lnTo>
                    <a:pt x="813385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549347" y="1158702"/>
            <a:ext cx="79756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Route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Manage</a:t>
            </a:r>
            <a:endParaRPr sz="1000">
              <a:latin typeface="Tahoma"/>
              <a:cs typeface="Tahoma"/>
            </a:endParaRPr>
          </a:p>
          <a:p>
            <a:pPr marL="24765">
              <a:lnSpc>
                <a:spcPts val="1200"/>
              </a:lnSpc>
            </a:pPr>
            <a:r>
              <a:rPr dirty="0" sz="1000" spc="-35">
                <a:latin typeface="Tahoma"/>
                <a:cs typeface="Tahoma"/>
              </a:rPr>
              <a:t>-</a:t>
            </a:r>
            <a:r>
              <a:rPr dirty="0" sz="1000" spc="-30">
                <a:latin typeface="Tahoma"/>
                <a:cs typeface="Tahoma"/>
              </a:rPr>
              <a:t>ment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Module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34407" y="1161339"/>
            <a:ext cx="844550" cy="337185"/>
            <a:chOff x="3634407" y="1161339"/>
            <a:chExt cx="844550" cy="337185"/>
          </a:xfrm>
        </p:grpSpPr>
        <p:sp>
          <p:nvSpPr>
            <p:cNvPr id="17" name="object 17"/>
            <p:cNvSpPr/>
            <p:nvPr/>
          </p:nvSpPr>
          <p:spPr>
            <a:xfrm>
              <a:off x="3636947" y="1163879"/>
              <a:ext cx="839469" cy="332105"/>
            </a:xfrm>
            <a:custGeom>
              <a:avLst/>
              <a:gdLst/>
              <a:ahLst/>
              <a:cxnLst/>
              <a:rect l="l" t="t" r="r" b="b"/>
              <a:pathLst>
                <a:path w="839470" h="332105">
                  <a:moveTo>
                    <a:pt x="7886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88607" y="332053"/>
                  </a:lnTo>
                  <a:lnTo>
                    <a:pt x="808307" y="328076"/>
                  </a:lnTo>
                  <a:lnTo>
                    <a:pt x="824394" y="317229"/>
                  </a:lnTo>
                  <a:lnTo>
                    <a:pt x="835240" y="301142"/>
                  </a:lnTo>
                  <a:lnTo>
                    <a:pt x="839217" y="281442"/>
                  </a:lnTo>
                  <a:lnTo>
                    <a:pt x="839217" y="50610"/>
                  </a:lnTo>
                  <a:lnTo>
                    <a:pt x="835240" y="30910"/>
                  </a:lnTo>
                  <a:lnTo>
                    <a:pt x="824394" y="14823"/>
                  </a:lnTo>
                  <a:lnTo>
                    <a:pt x="808307" y="3977"/>
                  </a:lnTo>
                  <a:lnTo>
                    <a:pt x="78860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36947" y="1163879"/>
              <a:ext cx="839469" cy="332105"/>
            </a:xfrm>
            <a:custGeom>
              <a:avLst/>
              <a:gdLst/>
              <a:ahLst/>
              <a:cxnLst/>
              <a:rect l="l" t="t" r="r" b="b"/>
              <a:pathLst>
                <a:path w="839470" h="332105">
                  <a:moveTo>
                    <a:pt x="7886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88607" y="332053"/>
                  </a:lnTo>
                  <a:lnTo>
                    <a:pt x="808307" y="328076"/>
                  </a:lnTo>
                  <a:lnTo>
                    <a:pt x="824394" y="317229"/>
                  </a:lnTo>
                  <a:lnTo>
                    <a:pt x="835240" y="301142"/>
                  </a:lnTo>
                  <a:lnTo>
                    <a:pt x="839217" y="281442"/>
                  </a:lnTo>
                  <a:lnTo>
                    <a:pt x="839217" y="50610"/>
                  </a:lnTo>
                  <a:lnTo>
                    <a:pt x="835240" y="30910"/>
                  </a:lnTo>
                  <a:lnTo>
                    <a:pt x="824394" y="14823"/>
                  </a:lnTo>
                  <a:lnTo>
                    <a:pt x="808307" y="3977"/>
                  </a:lnTo>
                  <a:lnTo>
                    <a:pt x="78860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670388" y="1158702"/>
            <a:ext cx="77216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">
              <a:lnSpc>
                <a:spcPts val="12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Data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Manage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35">
                <a:latin typeface="Tahoma"/>
                <a:cs typeface="Tahoma"/>
              </a:rPr>
              <a:t>-</a:t>
            </a:r>
            <a:r>
              <a:rPr dirty="0" sz="1000" spc="-30">
                <a:latin typeface="Tahoma"/>
                <a:cs typeface="Tahoma"/>
              </a:rPr>
              <a:t>ment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Module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30689" y="1161339"/>
            <a:ext cx="779145" cy="337185"/>
            <a:chOff x="4730689" y="1161339"/>
            <a:chExt cx="779145" cy="337185"/>
          </a:xfrm>
        </p:grpSpPr>
        <p:sp>
          <p:nvSpPr>
            <p:cNvPr id="21" name="object 21"/>
            <p:cNvSpPr/>
            <p:nvPr/>
          </p:nvSpPr>
          <p:spPr>
            <a:xfrm>
              <a:off x="4733229" y="1163879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33229" y="1163879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17160" y="1158702"/>
            <a:ext cx="4064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735" marR="5080" indent="-2667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Output </a:t>
            </a:r>
            <a:r>
              <a:rPr dirty="0" sz="1000" spc="-10">
                <a:latin typeface="Tahoma"/>
                <a:cs typeface="Tahoma"/>
              </a:rPr>
              <a:t>Result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39063" y="1306656"/>
            <a:ext cx="3576320" cy="46990"/>
            <a:chOff x="1139063" y="1306656"/>
            <a:chExt cx="3576320" cy="46990"/>
          </a:xfrm>
        </p:grpSpPr>
        <p:sp>
          <p:nvSpPr>
            <p:cNvPr id="25" name="object 25"/>
            <p:cNvSpPr/>
            <p:nvPr/>
          </p:nvSpPr>
          <p:spPr>
            <a:xfrm>
              <a:off x="1139063" y="1329905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24126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24126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61353" y="1329905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46416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46416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82414" y="1329905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67477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567477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478696" y="1329905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63759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63759" y="131171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1894" y="1765056"/>
            <a:ext cx="1969770" cy="8407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100" spc="-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42717" y="1772752"/>
            <a:ext cx="2205990" cy="13061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20" b="1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dirty="0" sz="11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dirty="0" sz="11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20" b="1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100">
              <a:latin typeface="Tahoma"/>
              <a:cs typeface="Tahoma"/>
            </a:endParaRPr>
          </a:p>
          <a:p>
            <a:pPr marL="314960" marR="13081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moves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processing.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99"/>
              </a:lnSpc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share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traffic,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information.</a:t>
            </a:r>
            <a:endParaRPr sz="1100">
              <a:latin typeface="Arial"/>
              <a:cs typeface="Arial"/>
            </a:endParaRPr>
          </a:p>
          <a:p>
            <a:pPr marL="314960" marR="100330" indent="-177165">
              <a:lnSpc>
                <a:spcPct val="102600"/>
              </a:lnSpc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displays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timings,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routes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traffic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status.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Technology</a:t>
            </a:r>
            <a:r>
              <a:rPr dirty="0" spc="20"/>
              <a:t> </a:t>
            </a:r>
            <a:r>
              <a:rPr dirty="0" spc="-10"/>
              <a:t>Stack</a:t>
            </a:r>
            <a:r>
              <a:rPr dirty="0" spc="20"/>
              <a:t> </a:t>
            </a:r>
            <a:r>
              <a:rPr dirty="0" spc="85"/>
              <a:t>&amp;</a:t>
            </a:r>
            <a:r>
              <a:rPr dirty="0" spc="25"/>
              <a:t> </a:t>
            </a:r>
            <a:r>
              <a:rPr dirty="0" spc="-45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204581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183586"/>
            <a:ext cx="1120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5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dirty="0" sz="1200" spc="1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dirty="0" sz="1200" spc="-45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390294"/>
            <a:ext cx="2520950" cy="1042669"/>
            <a:chOff x="309193" y="1390294"/>
            <a:chExt cx="2520950" cy="104266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90294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34558"/>
              <a:ext cx="2520950" cy="998219"/>
            </a:xfrm>
            <a:custGeom>
              <a:avLst/>
              <a:gdLst/>
              <a:ahLst/>
              <a:cxnLst/>
              <a:rect l="l" t="t" r="r" b="b"/>
              <a:pathLst>
                <a:path w="2520950" h="998219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1957" y="1381414"/>
            <a:ext cx="2202815" cy="101282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35">
                <a:latin typeface="Tahoma"/>
                <a:cs typeface="Tahoma"/>
              </a:rPr>
              <a:t>Programming: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C++(DSA/OOPS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30">
                <a:latin typeface="Tahoma"/>
                <a:cs typeface="Tahoma"/>
              </a:rPr>
              <a:t>Database: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10">
                <a:latin typeface="Tahoma"/>
                <a:cs typeface="Tahoma"/>
              </a:rPr>
              <a:t>Tools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Framework: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spc="10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STL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10">
                <a:latin typeface="Tahoma"/>
                <a:cs typeface="Tahoma"/>
              </a:rPr>
              <a:t>IDE: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30">
                <a:latin typeface="Tahoma"/>
                <a:cs typeface="Tahoma"/>
              </a:rPr>
              <a:t>Version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Control: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204581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8117" y="1183586"/>
            <a:ext cx="1687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dirty="0" sz="1200" spc="1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dirty="0" sz="1200" spc="-45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390294"/>
            <a:ext cx="2520950" cy="1000125"/>
            <a:chOff x="2930016" y="1390294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90294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434563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68180" y="1373718"/>
            <a:ext cx="1443990" cy="101282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45">
                <a:latin typeface="Tahoma"/>
                <a:cs typeface="Tahoma"/>
              </a:rPr>
              <a:t>Requirement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10">
                <a:latin typeface="Tahoma"/>
                <a:cs typeface="Tahoma"/>
              </a:rPr>
              <a:t>Implementation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10">
                <a:latin typeface="Tahoma"/>
                <a:cs typeface="Tahoma"/>
              </a:rPr>
              <a:t>Testing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1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9249" y="2635108"/>
            <a:ext cx="49606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65">
                <a:solidFill>
                  <a:srgbClr val="595959"/>
                </a:solidFill>
                <a:latin typeface="Tahoma"/>
                <a:cs typeface="Tahoma"/>
              </a:rPr>
              <a:t>C++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Tahoma"/>
                <a:cs typeface="Tahoma"/>
              </a:rPr>
              <a:t>chosen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strong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OOPs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support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60">
                <a:solidFill>
                  <a:srgbClr val="595959"/>
                </a:solidFill>
                <a:latin typeface="Tahoma"/>
                <a:cs typeface="Tahoma"/>
              </a:rPr>
              <a:t>STL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Structures,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8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Handling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is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Tahoma"/>
                <a:cs typeface="Tahoma"/>
              </a:rPr>
              <a:t>used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to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Operate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Tahoma"/>
                <a:cs typeface="Tahoma"/>
              </a:rPr>
              <a:t>on</a:t>
            </a:r>
            <a:r>
              <a:rPr dirty="0" sz="800" spc="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Tahoma"/>
                <a:cs typeface="Tahoma"/>
              </a:rPr>
              <a:t>data.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Initial</a:t>
            </a:r>
            <a:r>
              <a:rPr dirty="0" spc="5"/>
              <a:t> </a:t>
            </a:r>
            <a:r>
              <a:rPr dirty="0" spc="-60"/>
              <a:t>Progress</a:t>
            </a:r>
            <a:r>
              <a:rPr dirty="0" spc="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25"/>
              <a:t>Team</a:t>
            </a:r>
            <a:r>
              <a:rPr dirty="0" spc="5"/>
              <a:t> </a:t>
            </a:r>
            <a:r>
              <a:rPr dirty="0" spc="-5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99398"/>
            <a:ext cx="2058670" cy="175133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dirty="0" sz="1100" spc="5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100">
              <a:latin typeface="Tahoma"/>
              <a:cs typeface="Tahoma"/>
            </a:endParaRPr>
          </a:p>
          <a:p>
            <a:pPr marL="314960" marR="8572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Studied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Management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Identified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requirement</a:t>
            </a:r>
            <a:endParaRPr sz="1100">
              <a:latin typeface="Arial"/>
              <a:cs typeface="Arial"/>
            </a:endParaRPr>
          </a:p>
          <a:p>
            <a:pPr marL="314960" marR="234950" indent="-177165">
              <a:lnSpc>
                <a:spcPct val="102699"/>
              </a:lnSpc>
              <a:spcBef>
                <a:spcPts val="1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Architecture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prepared</a:t>
            </a:r>
            <a:endParaRPr sz="1100">
              <a:latin typeface="Arial"/>
              <a:cs typeface="Arial"/>
            </a:endParaRPr>
          </a:p>
          <a:p>
            <a:pPr marL="314960" marR="51308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Implemented</a:t>
            </a:r>
            <a:endParaRPr sz="110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Junction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6479" y="1017222"/>
            <a:ext cx="2646680" cy="3581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2633345" algn="l"/>
              </a:tabLst>
            </a:pPr>
            <a:r>
              <a:rPr dirty="0" u="sng" sz="1100" spc="-85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dirty="0" u="sng" sz="1100" spc="15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100" spc="-1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dirty="0" u="sng" sz="110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812165" algn="l"/>
                <a:tab pos="1684020" algn="l"/>
              </a:tabLst>
            </a:pPr>
            <a:r>
              <a:rPr dirty="0" sz="800" spc="-10">
                <a:latin typeface="Tahoma"/>
                <a:cs typeface="Tahoma"/>
              </a:rPr>
              <a:t>Member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20">
                <a:latin typeface="Tahoma"/>
                <a:cs typeface="Tahoma"/>
              </a:rPr>
              <a:t>Role</a:t>
            </a:r>
            <a:r>
              <a:rPr dirty="0" sz="800">
                <a:latin typeface="Tahoma"/>
                <a:cs typeface="Tahoma"/>
              </a:rPr>
              <a:t>	</a:t>
            </a:r>
            <a:r>
              <a:rPr dirty="0" sz="800" spc="-10">
                <a:latin typeface="Tahoma"/>
                <a:cs typeface="Tahoma"/>
              </a:rPr>
              <a:t>Contribution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9179" y="1406474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66479" y="1420176"/>
            <a:ext cx="1271270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2165" algn="l"/>
              </a:tabLst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M1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812165" algn="l"/>
              </a:tabLst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M2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Developer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8050" y="1420176"/>
            <a:ext cx="975360" cy="8686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Project</a:t>
            </a:r>
            <a:r>
              <a:rPr dirty="0" sz="800" spc="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planning</a:t>
            </a:r>
            <a:r>
              <a:rPr dirty="0" sz="800" spc="8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coordination,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OOPS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dirty="0" sz="800" spc="40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dirty="0" sz="800" spc="4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modules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PPT</a:t>
            </a:r>
            <a:r>
              <a:rPr dirty="0" sz="800" spc="1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documentation</a:t>
            </a:r>
            <a:endParaRPr sz="800">
              <a:latin typeface="Arial"/>
              <a:cs typeface="Arial"/>
            </a:endParaRPr>
          </a:p>
          <a:p>
            <a:pPr marL="12700" marR="5080" indent="-635">
              <a:lnSpc>
                <a:spcPts val="950"/>
              </a:lnSpc>
              <a:spcBef>
                <a:spcPts val="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dirty="0" sz="800" spc="5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documenta-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6479" y="1900972"/>
            <a:ext cx="17335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M3</a:t>
            </a:r>
            <a:r>
              <a:rPr dirty="0" sz="800" spc="5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M4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6281" y="1900972"/>
            <a:ext cx="74803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DB/Testing Developer/Docs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9179" y="2321521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4395" y="2764408"/>
            <a:ext cx="161036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prepared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9</a:t>
            </a:fld>
            <a:r>
              <a:rPr dirty="0" spc="-20"/>
              <a:t>/10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Roadmap,</a:t>
            </a:r>
            <a:r>
              <a:rPr dirty="0" spc="10"/>
              <a:t> </a:t>
            </a:r>
            <a:r>
              <a:rPr dirty="0" spc="-40"/>
              <a:t>Expected</a:t>
            </a:r>
            <a:r>
              <a:rPr dirty="0" spc="10"/>
              <a:t> </a:t>
            </a:r>
            <a:r>
              <a:rPr dirty="0" spc="-45"/>
              <a:t>Outcomes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75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Roadmap</a:t>
            </a:r>
          </a:p>
          <a:p>
            <a:pPr marL="3282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dirty="0" spc="-65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I:</a:t>
            </a:r>
            <a:r>
              <a:rPr dirty="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Proposal</a:t>
            </a:r>
            <a:r>
              <a:rPr dirty="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85" b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dirty="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Design</a:t>
            </a:r>
          </a:p>
          <a:p>
            <a:pPr marL="3282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dirty="0" spc="-55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spc="-50" b="0">
                <a:solidFill>
                  <a:srgbClr val="000000"/>
                </a:solidFill>
                <a:latin typeface="Tahoma"/>
                <a:cs typeface="Tahoma"/>
              </a:rPr>
              <a:t>II:</a:t>
            </a:r>
            <a:r>
              <a:rPr dirty="0" spc="-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Development</a:t>
            </a: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dirty="0" spc="-55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spc="-65" b="0">
                <a:solidFill>
                  <a:srgbClr val="000000"/>
                </a:solidFill>
                <a:latin typeface="Tahoma"/>
                <a:cs typeface="Tahoma"/>
              </a:rPr>
              <a:t>III: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 Final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Implementation</a:t>
            </a:r>
          </a:p>
          <a:p>
            <a:pPr marL="50800">
              <a:lnSpc>
                <a:spcPct val="100000"/>
              </a:lnSpc>
              <a:spcBef>
                <a:spcPts val="900"/>
              </a:spcBef>
            </a:pPr>
            <a:r>
              <a:rPr dirty="0" spc="-50"/>
              <a:t>Expected</a:t>
            </a:r>
            <a:r>
              <a:rPr dirty="0" spc="-10"/>
              <a:t> Outcomes</a:t>
            </a:r>
          </a:p>
          <a:p>
            <a:pPr lvl="1" marL="3276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Simulation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  <a:p>
            <a:pPr lvl="1" marL="3276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Reduced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Waiting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Jam</a:t>
            </a:r>
            <a:endParaRPr sz="1100">
              <a:latin typeface="Arial"/>
              <a:cs typeface="Arial"/>
            </a:endParaRPr>
          </a:p>
          <a:p>
            <a:pPr lvl="1" marL="327660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Evacuation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57" y="2760250"/>
            <a:ext cx="133350" cy="16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80"/>
              </a:lnSpc>
            </a:pPr>
            <a:r>
              <a:rPr dirty="0" sz="1100" spc="-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95" y="2780283"/>
            <a:ext cx="14535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Expanded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Road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Network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Computer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10"/>
              <a:t> </a:t>
            </a:r>
            <a:r>
              <a:rPr dirty="0"/>
              <a:t>Engineering</a:t>
            </a:r>
            <a:r>
              <a:rPr dirty="0" spc="10"/>
              <a:t> </a:t>
            </a:r>
            <a:r>
              <a:rPr dirty="0" spc="80"/>
              <a:t>—</a:t>
            </a:r>
            <a:r>
              <a:rPr dirty="0" spc="10"/>
              <a:t> </a:t>
            </a:r>
            <a:r>
              <a:rPr dirty="0"/>
              <a:t>Graphic</a:t>
            </a:r>
            <a:r>
              <a:rPr dirty="0" spc="10"/>
              <a:t> </a:t>
            </a:r>
            <a:r>
              <a:rPr dirty="0"/>
              <a:t>Era</a:t>
            </a:r>
            <a:r>
              <a:rPr dirty="0" spc="10"/>
              <a:t> </a:t>
            </a:r>
            <a:r>
              <a:rPr dirty="0"/>
              <a:t>(Deemed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be</a:t>
            </a:r>
            <a:r>
              <a:rPr dirty="0" spc="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8497" y="988819"/>
            <a:ext cx="2371090" cy="13315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sz="1100">
              <a:latin typeface="Tahoma"/>
              <a:cs typeface="Tahoma"/>
            </a:endParaRPr>
          </a:p>
          <a:p>
            <a:pPr marL="289560" marR="5778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Graph-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route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—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2020</a:t>
            </a:r>
            <a:endParaRPr sz="1100">
              <a:latin typeface="Arial"/>
              <a:cs typeface="Arial"/>
            </a:endParaRPr>
          </a:p>
          <a:p>
            <a:pPr marL="289560" marR="171450" indent="-177165">
              <a:lnSpc>
                <a:spcPct val="102699"/>
              </a:lnSpc>
              <a:spcBef>
                <a:spcPts val="95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Adaptive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traffic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control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—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2018</a:t>
            </a:r>
            <a:endParaRPr sz="1100">
              <a:latin typeface="Arial"/>
              <a:cs typeface="Arial"/>
            </a:endParaRPr>
          </a:p>
          <a:p>
            <a:pPr marL="289560" marR="5080" indent="-177165">
              <a:lnSpc>
                <a:spcPct val="102600"/>
              </a:lnSpc>
              <a:spcBef>
                <a:spcPts val="105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Emergency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vehicle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—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2022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3803" y="2444026"/>
            <a:ext cx="1924050" cy="371475"/>
          </a:xfrm>
          <a:prstGeom prst="rect">
            <a:avLst/>
          </a:prstGeom>
          <a:solidFill>
            <a:srgbClr val="133768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275"/>
              </a:lnSpc>
            </a:pPr>
            <a:r>
              <a:rPr dirty="0" sz="1100" spc="-25" b="1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dirty="0" sz="11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dirty="0" sz="11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1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Project TitleTeam ID: XXXX</dc:creator>
  <dc:title>Project-Based Learning [2mm]Phase-I Evaluation</dc:title>
  <dcterms:created xsi:type="dcterms:W3CDTF">2026-09-09T13:54:53Z</dcterms:created>
  <dcterms:modified xsi:type="dcterms:W3CDTF">2026-09-09T13:54:53Z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2026-09-09T00:00:00Z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